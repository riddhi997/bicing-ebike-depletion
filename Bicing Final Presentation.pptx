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5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1129"/>
  </p:normalViewPr>
  <p:slideViewPr>
    <p:cSldViewPr snapToGrid="0" snapToObjects="1">
      <p:cViewPr>
        <p:scale>
          <a:sx n="150" d="100"/>
          <a:sy n="150" d="100"/>
        </p:scale>
        <p:origin x="44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811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 analysed four years of </a:t>
            </a:r>
            <a:r>
              <a:rPr lang="en-IN" sz="1800" dirty="0" err="1"/>
              <a:t>Bicing</a:t>
            </a:r>
            <a:r>
              <a:rPr lang="en-IN" sz="1800" dirty="0"/>
              <a:t> data for Barcelona's UB/UPC Nord university campuses to build a system that predicts e-bike depletion 24 hours in advance.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problem: Students finish class between 1-8pm, head to the nearest station, and the e-bikes are gone.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That's a service failure. But it's also a revenue failure — every e-bike ride generates €0.10.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Mechanical bikes only trigger that fee for rides over 30 minutes, which most student commutes don't reach.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So zero e-bikes while there’s demand means zero revenue from that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Barcelona has 1,650 educational institutions and over 500 </a:t>
            </a:r>
            <a:r>
              <a:rPr lang="en-IN" dirty="0" err="1"/>
              <a:t>Bicing</a:t>
            </a:r>
            <a:r>
              <a:rPr lang="en-IN" dirty="0"/>
              <a:t> stations.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Rather than building a global model that mixes students with tourists, residents and commuters,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 identified 3 university clusters of bike stations within 500 metres of major university campuses in the city — 30 stations total, and tried to isolate the student demand signal.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Of the three clusters, UB/UPC Nord stands out immediately.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It’s almost an isolated student zone away from touristic and more commercial areas.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It's the only one showing a sharp e-bike morning peak followed by an afternoon drain.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other two clusters are dominated by mechanical bikes throughout the day. The key reason being altitude.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Nord sits at an average of 85 metres — UPF Ciutadella is at 6 metres.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Students commute uphill from Eixample and Gràcia to campus, so they need electric assist.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E-bikes peak at around 60% capacity at 9am as students arrive and bikes return to campus from homes.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Then demand takes over. After 1pm we start seeing a drop in availability, around 5pm we hit zero and stay at 0 until 5am  the following 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bikes don't disappear — they are likely docked in residential areas overnight and come back the following morning.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pattern is mostly consistent across all 6 stations, which justifies averaging them.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Weather has almost no effect — sunny, rainy and windy days follow nearly identical profiles.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Summer July–August window shows a sharp drop, consistent with fewer students coming to campus.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 excluded weekends, summer months and overnight hours 10pm to 6am from the model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Overnight hours are easy to predict as they’re usually zero, but operationally irrelevant and I don't want the model to pick up that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I built a 24-hour-ahead Random Forest model predicting e-bike availability for each station-hour.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24 hours ahead because restocking requires lead time — a 3-hour model is too late to act 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The top feature by far is e-bike availability at the same hour yesterday, with an importance of 0.77.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Second is hour of day encoded as a sine — the drain curve mirrors a sine wave almost exactly, so the model naturally leverages this.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 Third is same hour last week, which captures weekly rhythm and is especially useful for Mondays where the 24h lag uses the previous Friday’s data considering weekends were dropped.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The model achieves a 12.8% improvement in MAE over the naive baseline of just using yesterday's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Here's the model on Valentine's Day 2024 — a typical term-time Wednesday.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You can see the gold line (model prediction) closely follows the the grey line (yesterday's data) and both are slightly off from the actual (blue line)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model correctly anticipates the morning peak and gets quite close to the actual when predicting zero bike availability.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Derived from the same regression model, I flagged depletion events for the 3 month period January to March 2024—to see events where predicted NAB drops below 5% for at least one consecutive hour between noon and 8pm.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Precision is 0.95, meaning very few false alarms, so its unlikely the model will tell you to restock bikes on a day no restocking is needed.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Recall is 0.86 — the model catches 86% of real depletion days when restocking is actually needed.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Crucially, predicted depletion is usually slightly below actual, which means the restocking trigger is conservative — it only fires when the signal is strong.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7532-4820-A81A-782F-F8473A1D2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2B3AA-2567-9B89-006C-2EA60CDBB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30189-F5A6-7915-9BDF-E4D3FE2E8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station-level timeline for January to March 2024 — each bar is one day per station.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Green is a correct depletion prediction, red is a miss.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model performs well across the full test period.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C2EC4-24C8-6A10-9D54-6D85148D1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72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Translating this into money: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Across just 6 stations, between January to March 2024, I found almost €314 in lost e-bike fee revenue from the stations operating at zero e-bikes between 1-10pm on school days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 — projecting to roughly €942 for a full school year (9 months)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This is a conservative estimate: We can only measure actual demand when bikes are available. so real lost revenue is likely higher.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Riders who couldn’t get a bike when they needed one are invisible to the data — so real lost revenue is likely higher.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While calculating I had to estimate demand using same hour on days when bikes were available.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I multiplied estimated demand/missed rides by the zero availability hours and €0.10.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model has real limitations.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We don't know how many UB/UPC students actually use </a:t>
            </a:r>
            <a:r>
              <a:rPr lang="en-IN" dirty="0" err="1"/>
              <a:t>Bicing</a:t>
            </a:r>
            <a:r>
              <a:rPr lang="en-IN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Public holidays aren't handled. 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 err="1"/>
              <a:t>chool</a:t>
            </a:r>
            <a:r>
              <a:rPr lang="en-IN" dirty="0"/>
              <a:t> events, strikes, and exam periods can spike or suppress demand in ways no historical model can anticipate.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N" dirty="0"/>
              <a:t>Outlier days — the ones most worth predicting — are also exactly where the model struggles most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And the most interesting limitation: if restocking works and depletion events disappear, the training signal disappears too. The model would need continuous retraining.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To close: Nord is under-supplied, and the daily e-bike drain is predictable.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model catches 86% of depletion days with 12.8% better accuracy than the naive baseline.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About 1000EUR/Year in lost revenue across these 6 stations could be recovered with timely restocking.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(Jump to this)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dirty="0"/>
              <a:t>The best outcome is that this model eventually becomes useless. That would mean the problem is solved: Demand would be met but also potentially increase as we increase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visualliteracytoday.org/finding-meme-spiration-with-public-domain-and-creative-commons-images-lesson-plan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9728"/>
            <a:ext cx="502920" cy="502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09728"/>
            <a:ext cx="502920" cy="5029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09728"/>
            <a:ext cx="502920" cy="5029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65760" y="32004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BICING  ·  PREDICTIVE ANALYTICS  ·  UB / UPC NORD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365760" y="8229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E-Bike Depletion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UB/UPC Nord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365759" y="3291840"/>
            <a:ext cx="511193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spatiotemporal analysis of Bicing station behaviour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Barcelona's major university campuses (2021–2024)</a:t>
            </a:r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6217920" y="777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6217920" y="777240"/>
            <a:ext cx="54864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355080" y="8503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813K+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635508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Bicing records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17920" y="1828800"/>
            <a:ext cx="54864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19019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635508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analysed (UB/UPC Nord)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17920" y="288036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2880360"/>
            <a:ext cx="54864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55080" y="2953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2021–24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635508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 of data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17920" y="393192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0" y="3931920"/>
            <a:ext cx="54864" cy="9144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55080" y="4005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€0.10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635508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e-bike ride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4411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54411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54411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1909477" y="301752"/>
            <a:ext cx="53250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arrive at empty stations and Bicing loses revenue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47472" y="1133856"/>
            <a:ext cx="4069080" cy="19613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347472" y="1133856"/>
            <a:ext cx="4069080" cy="457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30352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The Student Problem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25780" y="1563624"/>
            <a:ext cx="389077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ends between 13:00-20:00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head to the nearest Bicing station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E-bikes are gone — wait or walk or take bus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frustration erodes trust in the service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17720" y="1133856"/>
            <a:ext cx="4069080" cy="1952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617720" y="1133856"/>
            <a:ext cx="406908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00600" y="1243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  The Revenue Problem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00600" y="1572970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E-bikes: €0.10 fee on every single ride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bikes: €0.10 only if ride &gt; 30 min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student commutes are shorter)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e-bikes = zero revenue from that demand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2037584" y="3250692"/>
            <a:ext cx="5325045" cy="1344168"/>
          </a:xfrm>
          <a:prstGeom prst="rect">
            <a:avLst/>
          </a:prstGeom>
          <a:solidFill>
            <a:srgbClr val="FFF0F0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210470" y="3758184"/>
            <a:ext cx="497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e-bike depletion 24 hours ahead — enabling proactive restocking before students are stranded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62306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62306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62306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Text 2"/>
          <p:cNvSpPr/>
          <p:nvPr/>
        </p:nvSpPr>
        <p:spPr>
          <a:xfrm>
            <a:off x="1883664" y="307639"/>
            <a:ext cx="51325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1,650 Educational Institutions to 3 university clusters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63" y="1126998"/>
            <a:ext cx="4754880" cy="34290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328842" y="1190318"/>
            <a:ext cx="137160" cy="137160"/>
          </a:xfrm>
          <a:prstGeom prst="ellipse">
            <a:avLst/>
          </a:prstGeom>
          <a:solidFill>
            <a:srgbClr val="4E7C59"/>
          </a:solidFill>
          <a:ln w="12700">
            <a:solidFill>
              <a:srgbClr val="4E7C59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5530010" y="115374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 (A few major campuses shown)</a:t>
            </a: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5328842" y="1482926"/>
            <a:ext cx="137160" cy="137160"/>
          </a:xfrm>
          <a:prstGeom prst="ellipse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530010" y="144635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station (≤500m from major campuses)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5328842" y="1775534"/>
            <a:ext cx="137160" cy="137160"/>
          </a:xfrm>
          <a:prstGeom prst="ellipse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530010" y="173895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donor stations (identified using temporal data)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328842" y="2068142"/>
            <a:ext cx="137160" cy="137160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530010" y="203156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Bicing network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5394720" y="2462710"/>
            <a:ext cx="3538728" cy="978409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394720" y="2465340"/>
            <a:ext cx="45720" cy="98350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551587" y="2504273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University Clusters identified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530010" y="2943185"/>
            <a:ext cx="34385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UB/UPC Nord  ·  UB/UPC Sud  ·  UPF Ciutadella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stations total within 500m of campus centroids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32715" y="3526379"/>
            <a:ext cx="3538728" cy="1210886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386995" y="3534109"/>
            <a:ext cx="53445" cy="120315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51587" y="357303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clusters, not all 127 stations?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51587" y="4137660"/>
            <a:ext cx="308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model across all nearby stations would mix student commuters with tourists, locals, and general commuters — reducing signal quality.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7989D51-EBCC-FC0B-3C28-473494CBD809}"/>
              </a:ext>
            </a:extLst>
          </p:cNvPr>
          <p:cNvSpPr/>
          <p:nvPr/>
        </p:nvSpPr>
        <p:spPr>
          <a:xfrm>
            <a:off x="542354" y="3099446"/>
            <a:ext cx="881028" cy="81647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09CC214-8DE3-CF5C-29C5-B094D958B3BD}"/>
              </a:ext>
            </a:extLst>
          </p:cNvPr>
          <p:cNvSpPr/>
          <p:nvPr/>
        </p:nvSpPr>
        <p:spPr>
          <a:xfrm>
            <a:off x="2012410" y="3256456"/>
            <a:ext cx="960143" cy="81647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662B37-6336-2C40-7996-A1F24EDFC343}"/>
              </a:ext>
            </a:extLst>
          </p:cNvPr>
          <p:cNvSpPr/>
          <p:nvPr/>
        </p:nvSpPr>
        <p:spPr>
          <a:xfrm>
            <a:off x="3269581" y="2932806"/>
            <a:ext cx="746786" cy="81647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A1883A-5908-023E-E4CB-D130BFB6C463}"/>
              </a:ext>
            </a:extLst>
          </p:cNvPr>
          <p:cNvSpPr txBox="1"/>
          <p:nvPr/>
        </p:nvSpPr>
        <p:spPr>
          <a:xfrm>
            <a:off x="269547" y="2772664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UB/UPC NORD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12B2A5-DC40-FF19-F4A1-CC5E9E783522}"/>
              </a:ext>
            </a:extLst>
          </p:cNvPr>
          <p:cNvSpPr txBox="1"/>
          <p:nvPr/>
        </p:nvSpPr>
        <p:spPr>
          <a:xfrm>
            <a:off x="2128965" y="4128860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UB/UPC SUD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ED80B7-9F45-991B-191F-6055856476A0}"/>
              </a:ext>
            </a:extLst>
          </p:cNvPr>
          <p:cNvSpPr txBox="1"/>
          <p:nvPr/>
        </p:nvSpPr>
        <p:spPr>
          <a:xfrm>
            <a:off x="3784132" y="2710031"/>
            <a:ext cx="1575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UPF Ciutadella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5730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25730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25730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1883664" y="280475"/>
            <a:ext cx="5449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UB/UPC Nord behaves differently from the other clusters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989838"/>
            <a:ext cx="8449056" cy="288493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75488" y="3944890"/>
            <a:ext cx="2651760" cy="789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475488" y="3944890"/>
            <a:ext cx="54864" cy="78956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640080" y="3995763"/>
            <a:ext cx="2423160" cy="28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e-bike pattern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40080" y="4330068"/>
            <a:ext cx="2423160" cy="33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cluster showing a sharp morning peak &amp; full afternoon drain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3310128" y="3944890"/>
            <a:ext cx="2651760" cy="789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3310128" y="3944890"/>
            <a:ext cx="54864" cy="789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474720" y="3995763"/>
            <a:ext cx="2423160" cy="28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student zone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474720" y="4327280"/>
            <a:ext cx="2423160" cy="33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tourist/commuter noise than C. Vella or Urgell area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144768" y="3944890"/>
            <a:ext cx="2651760" cy="789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144768" y="3944890"/>
            <a:ext cx="54864" cy="78956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309360" y="3995763"/>
            <a:ext cx="2423160" cy="28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sets it apart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09360" y="4327280"/>
            <a:ext cx="2423160" cy="334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85m avg vs 25m (Sud) and 6m (UPF) — explored next slide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48" y="84582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48" y="84582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948" y="84582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55372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553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1883664" y="194310"/>
            <a:ext cx="60133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explains the e-bike allocation — students commute uphill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1183256"/>
            <a:ext cx="3405922" cy="32266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41648" y="96491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altitude &amp; 6am e-bike stock by cluster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858645"/>
              </p:ext>
            </p:extLst>
          </p:nvPr>
        </p:nvGraphicFramePr>
        <p:xfrm>
          <a:off x="4041648" y="1257526"/>
          <a:ext cx="4754880" cy="13898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E-bike share @ 6am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 / UPC Nord</a:t>
                      </a:r>
                      <a:endParaRPr lang="en-US" sz="11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306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 / UPC Sud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 Ciutadella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4"/>
          <p:cNvSpPr/>
          <p:nvPr/>
        </p:nvSpPr>
        <p:spPr>
          <a:xfrm>
            <a:off x="4041648" y="2747998"/>
            <a:ext cx="4754880" cy="981147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4041648" y="2747998"/>
            <a:ext cx="54864" cy="981147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183380" y="2760253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commute direction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206240" y="307718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commute FROM low-altitude residential areas (Eixample, Gràcia) TO the UB/UPC Nord campus at 85m. They need e-bike assist going uphill — Bicing's allocation reflects this. The other clusters are relatively flat: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bikes suffice.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4069080" y="3781156"/>
            <a:ext cx="4754880" cy="976479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035117" y="3779227"/>
            <a:ext cx="45719" cy="976479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193830" y="3847885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Supply-side decision, not just demand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183380" y="426746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e-bike availability at UPF/Sud is not because students don't want e-bikes — The problem is that allocated supply gets exhausted during the day when they do need it to get back home from school.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1DFAB477-1076-7B0E-52E4-56B98598F70B}"/>
              </a:ext>
            </a:extLst>
          </p:cNvPr>
          <p:cNvSpPr/>
          <p:nvPr/>
        </p:nvSpPr>
        <p:spPr>
          <a:xfrm>
            <a:off x="1122299" y="2625570"/>
            <a:ext cx="212725" cy="175133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BEC4AF9F-2818-ADAD-5D08-25444559264A}"/>
              </a:ext>
            </a:extLst>
          </p:cNvPr>
          <p:cNvSpPr/>
          <p:nvPr/>
        </p:nvSpPr>
        <p:spPr>
          <a:xfrm>
            <a:off x="1872107" y="2800703"/>
            <a:ext cx="212725" cy="175133"/>
          </a:xfrm>
          <a:prstGeom prst="star5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1812E976-9467-B7E9-26F4-BAE9C2E2EC38}"/>
              </a:ext>
            </a:extLst>
          </p:cNvPr>
          <p:cNvSpPr/>
          <p:nvPr/>
        </p:nvSpPr>
        <p:spPr>
          <a:xfrm>
            <a:off x="2515552" y="2670622"/>
            <a:ext cx="212725" cy="175133"/>
          </a:xfrm>
          <a:prstGeom prst="star5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42930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42930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42930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FINDING</a:t>
            </a: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310896"/>
            <a:ext cx="445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drain pattern: peak at 9am, empty by afternoon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00" y="1046375"/>
            <a:ext cx="5148943" cy="2131709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214660"/>
            <a:ext cx="5486400" cy="1617944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6073141" y="1183549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6073141" y="1183549"/>
            <a:ext cx="54864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6210301" y="1256701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9am</a:t>
            </a:r>
            <a:endParaRPr lang="en-US" sz="2800" dirty="0"/>
          </a:p>
        </p:txBody>
      </p:sp>
      <p:sp>
        <p:nvSpPr>
          <p:cNvPr id="13" name="Text 6"/>
          <p:cNvSpPr/>
          <p:nvPr/>
        </p:nvSpPr>
        <p:spPr>
          <a:xfrm>
            <a:off x="6210301" y="1704757"/>
            <a:ext cx="2560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e-bike peak (60% capacity)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073141" y="2189389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073141" y="2189389"/>
            <a:ext cx="54864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210301" y="2262541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2800" dirty="0"/>
          </a:p>
        </p:txBody>
      </p:sp>
      <p:sp>
        <p:nvSpPr>
          <p:cNvPr id="17" name="Text 10"/>
          <p:cNvSpPr/>
          <p:nvPr/>
        </p:nvSpPr>
        <p:spPr>
          <a:xfrm>
            <a:off x="6210301" y="2710597"/>
            <a:ext cx="2560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at zero by 19:00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6073141" y="3195229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073141" y="3195229"/>
            <a:ext cx="54864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210301" y="3268381"/>
            <a:ext cx="25603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</a:t>
            </a:r>
            <a:endParaRPr lang="en-US" sz="2800" dirty="0"/>
          </a:p>
        </p:txBody>
      </p:sp>
      <p:sp>
        <p:nvSpPr>
          <p:cNvPr id="21" name="Text 14"/>
          <p:cNvSpPr/>
          <p:nvPr/>
        </p:nvSpPr>
        <p:spPr>
          <a:xfrm>
            <a:off x="6210301" y="3716437"/>
            <a:ext cx="256032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show same drain pattern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073141" y="4201069"/>
            <a:ext cx="2563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stations (bottom) show consistent behaviour — no outliers. Cluster averaging is justified.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3736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73736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73736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FINDING 4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283464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has limited impact — but summer tells a different story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1001268"/>
            <a:ext cx="5029200" cy="2139696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7258"/>
            <a:ext cx="5029200" cy="165049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5577840" y="1069848"/>
            <a:ext cx="3218688" cy="957023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577840" y="1069848"/>
            <a:ext cx="54864" cy="957023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5742432" y="1161288"/>
            <a:ext cx="2990088" cy="25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minimal effect on drain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5742432" y="1417320"/>
            <a:ext cx="2990088" cy="54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Sunny, rainy and windy days follow nearly identical profiles. Students commuting uphill appear committed regardless of light rain.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5577840" y="2139696"/>
            <a:ext cx="3218688" cy="957023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577840" y="2139696"/>
            <a:ext cx="54864" cy="95702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5742432" y="2231136"/>
            <a:ext cx="2990088" cy="25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Windy days: slightly higher peak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742432" y="2487168"/>
            <a:ext cx="2990088" cy="54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 windy days in the dataset — treat with caution. Pattern may reflect coincidence rather than causal effect.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577840" y="3209544"/>
            <a:ext cx="3218688" cy="141274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577840" y="3209544"/>
            <a:ext cx="54864" cy="14127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742432" y="3300984"/>
            <a:ext cx="2990088" cy="255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Summer: model not applicable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742432" y="3557016"/>
            <a:ext cx="2990088" cy="1002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 shows a clear drop in e-bike availability. Fewer students commuting = less e-bike influx. The predictive model was trained on term-time weekdays only. Restocking is likely not needed in summer — different operational regime.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0" y="4924044"/>
            <a:ext cx="914400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2143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52143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52143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MODEL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261871"/>
            <a:ext cx="46958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24h-ahead Random Forest: predicting hourly e-bike availability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01752" y="991344"/>
            <a:ext cx="8449056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0" y="98634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24 hours ahead? Restocking requires lead time — a 3-hour model is too late to dispatch a van. Same-day rolling features (NAB_rolling_3h) are excluded: they are valid for live dashboards, not operational planning.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577840" y="1689334"/>
            <a:ext cx="3218688" cy="887845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577840" y="1689334"/>
            <a:ext cx="54864" cy="887845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742432" y="1738886"/>
            <a:ext cx="2990088" cy="292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NAB same hour yesterday (0.773)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723313" y="2033300"/>
            <a:ext cx="3056252" cy="417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single signal. Yesterday's hourly pattern strongly predicts tomorrow’s NAB.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577840" y="2641078"/>
            <a:ext cx="3218688" cy="939989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577840" y="2641078"/>
            <a:ext cx="54864" cy="939989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723313" y="2686798"/>
            <a:ext cx="2990088" cy="309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Hour of day — sin (0.113)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719572" y="2987034"/>
            <a:ext cx="2990088" cy="488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/>
              <a:t>The e-bike drain curve mirrors a sine wave almost exactly — rising sharply from 6am, peaking at 9am, falling through the afternoon.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577840" y="3645076"/>
            <a:ext cx="3218688" cy="990297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577840" y="3645076"/>
            <a:ext cx="54864" cy="990297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742432" y="4023305"/>
            <a:ext cx="2990088" cy="46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/>
              <a:t>Same hour last week captures weekly behavioural rhythm. Especially useful for Mondays, where the 24h lag uses Friday's data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47472" y="4763170"/>
            <a:ext cx="8449056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3801" y="4770947"/>
            <a:ext cx="8229600" cy="266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(NAB yesterday only): MAE ≈ 14.66%  →  Random Forest (all features): MAE ≈ 12.79%  →  12.8% improvement over naive baseline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64CBEC9-31EB-89A7-C075-0E27CB1FB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1613077"/>
            <a:ext cx="4693407" cy="3103845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86FC8BCF-FBF7-46DC-07FB-17A53F2A9DFC}"/>
              </a:ext>
            </a:extLst>
          </p:cNvPr>
          <p:cNvSpPr/>
          <p:nvPr/>
        </p:nvSpPr>
        <p:spPr>
          <a:xfrm>
            <a:off x="5742432" y="3697090"/>
            <a:ext cx="2990088" cy="326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cs typeface="Calibri" pitchFamily="34" charset="-120"/>
              </a:rPr>
              <a:t>#3 NAB same hour last week (0.035)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93" y="147174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93" y="147174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493" y="147174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RESULTS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301752"/>
            <a:ext cx="55194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vs actual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14 February 2024</a:t>
            </a:r>
            <a:endParaRPr lang="en-US" sz="2400" dirty="0"/>
          </a:p>
        </p:txBody>
      </p:sp>
      <p:sp>
        <p:nvSpPr>
          <p:cNvPr id="9" name="Shape 3"/>
          <p:cNvSpPr/>
          <p:nvPr/>
        </p:nvSpPr>
        <p:spPr>
          <a:xfrm>
            <a:off x="347472" y="4956048"/>
            <a:ext cx="8449056" cy="0"/>
          </a:xfrm>
          <a:prstGeom prst="rect">
            <a:avLst/>
          </a:prstGeom>
          <a:noFill/>
          <a:ln/>
        </p:spPr>
      </p:sp>
      <p:sp>
        <p:nvSpPr>
          <p:cNvPr id="10" name="Shape 4"/>
          <p:cNvSpPr/>
          <p:nvPr/>
        </p:nvSpPr>
        <p:spPr>
          <a:xfrm>
            <a:off x="7677339" y="81281"/>
            <a:ext cx="201168" cy="128016"/>
          </a:xfrm>
          <a:prstGeom prst="rect">
            <a:avLst/>
          </a:prstGeom>
          <a:solidFill>
            <a:srgbClr val="8A8899"/>
          </a:solidFill>
          <a:ln w="12700">
            <a:solidFill>
              <a:srgbClr val="8A8899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7924227" y="5384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(24h before)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7677339" y="327338"/>
            <a:ext cx="201168" cy="12801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924227" y="29990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7677339" y="568591"/>
            <a:ext cx="201168" cy="128016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933179" y="541159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7682966" y="777240"/>
            <a:ext cx="201168" cy="12801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933179" y="7498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threshold (5%)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1257E1-3F1C-17BF-B814-A25EE34496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411" y="996696"/>
            <a:ext cx="7613177" cy="40268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6591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56591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56591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CLASSIFIER</a:t>
            </a:r>
          </a:p>
        </p:txBody>
      </p:sp>
      <p:sp>
        <p:nvSpPr>
          <p:cNvPr id="7" name="Text 2"/>
          <p:cNvSpPr/>
          <p:nvPr/>
        </p:nvSpPr>
        <p:spPr>
          <a:xfrm>
            <a:off x="1810512" y="308610"/>
            <a:ext cx="48825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which days will see sustained zero availability?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47472" y="1117854"/>
            <a:ext cx="8449056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02920" y="111785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event = predicted NAB &lt; 5% for 1+ consecutive hours between 12:00–20:00  ·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directly from the regression model output — no separate classifier trained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5833872" y="1757935"/>
            <a:ext cx="29626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5833872" y="1757935"/>
            <a:ext cx="54864" cy="7772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5971032" y="1831087"/>
            <a:ext cx="277977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2800" dirty="0"/>
          </a:p>
        </p:txBody>
      </p:sp>
      <p:sp>
        <p:nvSpPr>
          <p:cNvPr id="15" name="Text 8"/>
          <p:cNvSpPr/>
          <p:nvPr/>
        </p:nvSpPr>
        <p:spPr>
          <a:xfrm>
            <a:off x="5971032" y="2224279"/>
            <a:ext cx="277977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— low false alarm rate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5833872" y="2672335"/>
            <a:ext cx="29626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833872" y="2672335"/>
            <a:ext cx="54864" cy="7772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971032" y="2745487"/>
            <a:ext cx="277977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2800" dirty="0"/>
          </a:p>
        </p:txBody>
      </p:sp>
      <p:sp>
        <p:nvSpPr>
          <p:cNvPr id="19" name="Text 12"/>
          <p:cNvSpPr/>
          <p:nvPr/>
        </p:nvSpPr>
        <p:spPr>
          <a:xfrm>
            <a:off x="5971032" y="3138679"/>
            <a:ext cx="277977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catches 86% of real depletions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5833872" y="3586735"/>
            <a:ext cx="29626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833872" y="3586735"/>
            <a:ext cx="54864" cy="7772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971032" y="3659887"/>
            <a:ext cx="277977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0.90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5971032" y="4053079"/>
            <a:ext cx="2779776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classifier quality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BA0045-1367-DB85-BEF8-DEFA50A3F1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649" y="1963935"/>
            <a:ext cx="5518862" cy="22057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B3145-E9D4-5F72-2ACA-2395046D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7">
            <a:extLst>
              <a:ext uri="{FF2B5EF4-FFF2-40B4-BE49-F238E27FC236}">
                <a16:creationId xmlns:a16="http://schemas.microsoft.com/office/drawing/2014/main" id="{486C453E-E649-BFC7-E22B-75F0D39AD461}"/>
              </a:ext>
            </a:extLst>
          </p:cNvPr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E4098-6C8E-9527-31F9-1D0B1CC0E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0308"/>
            <a:ext cx="7772400" cy="498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693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39446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39446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39446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589788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5897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REVENUE IMPACT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215269"/>
            <a:ext cx="47116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zero-hour is lost revenue — and it adds up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47472" y="1003554"/>
            <a:ext cx="8449056" cy="530352"/>
          </a:xfrm>
          <a:prstGeom prst="rect">
            <a:avLst/>
          </a:prstGeom>
          <a:solidFill>
            <a:srgbClr val="FFF0F0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02920" y="100355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logic:  Zero-availability hours  ×  avg. departures when stocked  ×  €0.10  =  lost revenue per station-hour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proxy: average e-bike departures at same hour on non-depleted days (conservative lower bound)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347472" y="1671066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47472" y="1671066"/>
            <a:ext cx="5486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84632" y="1744218"/>
            <a:ext cx="24688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€314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484632" y="2247138"/>
            <a:ext cx="24688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Jan–Mar 2024 (6 stations)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154680" y="1671066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154680" y="1671066"/>
            <a:ext cx="5486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91840" y="1744218"/>
            <a:ext cx="246888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~€942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3291840" y="2247138"/>
            <a:ext cx="246888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loss (9 school months)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61888" y="1671066"/>
            <a:ext cx="2834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61888" y="1671066"/>
            <a:ext cx="54864" cy="9601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99048" y="1744218"/>
            <a:ext cx="2651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€0.10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099048" y="2247138"/>
            <a:ext cx="265176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missed e-bike ride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419856" y="2775204"/>
            <a:ext cx="5257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419856" y="2775204"/>
            <a:ext cx="54864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552444" y="2838446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number is conservative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3552444" y="3113768"/>
            <a:ext cx="5093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count hours where availability = 0. Suppressed demand (riders who don't bother checking) and riders who walked past without trying are not captured.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419856" y="3616451"/>
            <a:ext cx="5257800" cy="988499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3419856" y="3616452"/>
            <a:ext cx="54864" cy="98849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84448" y="3662172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make this model obsolete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3584448" y="4067560"/>
            <a:ext cx="49729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successful restocking eliminates zero-events (during the day when there is likely more demand), the model loses its training signal. That would be a good outcome — higher revenue and better service, more customers retained.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4" name="Picture 33" descr="Finding Meme-spiration with Public Domain and Creative Commons Images ...">
            <a:extLst>
              <a:ext uri="{FF2B5EF4-FFF2-40B4-BE49-F238E27FC236}">
                <a16:creationId xmlns:a16="http://schemas.microsoft.com/office/drawing/2014/main" id="{454DC81F-167B-C065-3EDF-68BBEF01D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14066" y="2838446"/>
            <a:ext cx="2568046" cy="1578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7098"/>
            <a:ext cx="38404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157098"/>
            <a:ext cx="384048" cy="3840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57098"/>
            <a:ext cx="384048" cy="38404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347472" y="640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LIMITATIONS</a:t>
            </a:r>
          </a:p>
        </p:txBody>
      </p:sp>
      <p:sp>
        <p:nvSpPr>
          <p:cNvPr id="7" name="Text 2"/>
          <p:cNvSpPr/>
          <p:nvPr/>
        </p:nvSpPr>
        <p:spPr>
          <a:xfrm>
            <a:off x="1883664" y="310896"/>
            <a:ext cx="4774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doesn't know — and why that matters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347472" y="121143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600" dirty="0"/>
          </a:p>
          <a:p>
            <a:endParaRPr lang="en-US" dirty="0"/>
          </a:p>
        </p:txBody>
      </p:sp>
      <p:sp>
        <p:nvSpPr>
          <p:cNvPr id="9" name="Shape 4"/>
          <p:cNvSpPr/>
          <p:nvPr/>
        </p:nvSpPr>
        <p:spPr>
          <a:xfrm>
            <a:off x="347472" y="1211439"/>
            <a:ext cx="54864" cy="1417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12064" y="130287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98348" y="1691499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how many UB/UPC students use Bicing. Enrolment + Bicing subscriber overlap would dramatically improve demand estimates.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227832" y="121143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227832" y="1211439"/>
            <a:ext cx="54864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392424" y="1366887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600" b="1" dirty="0">
                <a:latin typeface="Calibri" pitchFamily="34" charset="0"/>
                <a:cs typeface="Calibri" pitchFamily="34" charset="-120"/>
              </a:rPr>
              <a:t>Public holidays not accounted for</a:t>
            </a:r>
          </a:p>
        </p:txBody>
      </p:sp>
      <p:sp>
        <p:nvSpPr>
          <p:cNvPr id="15" name="Text 10"/>
          <p:cNvSpPr/>
          <p:nvPr/>
        </p:nvSpPr>
        <p:spPr>
          <a:xfrm>
            <a:off x="3392424" y="1632063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after a Friday holiday get Friday's lag values. The error is small but worth noting for production deployment.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08192" y="121143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108192" y="1211439"/>
            <a:ext cx="54864" cy="1417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47472" y="276591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47472" y="2765919"/>
            <a:ext cx="54864" cy="1417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2064" y="2913873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events &amp; unpredictables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12064" y="3193047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weeks, strikes, football matches near campus, and one-off events can spike or suppress demand in ways no historical model can anticipate.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227832" y="276591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227832" y="2765919"/>
            <a:ext cx="54864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72784" y="1366887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cs typeface="Calibri" pitchFamily="34" charset="-120"/>
              </a:rPr>
              <a:t>The self-defeating model problem</a:t>
            </a:r>
          </a:p>
        </p:txBody>
      </p:sp>
      <p:sp>
        <p:nvSpPr>
          <p:cNvPr id="27" name="Text 22"/>
          <p:cNvSpPr/>
          <p:nvPr/>
        </p:nvSpPr>
        <p:spPr>
          <a:xfrm>
            <a:off x="6249924" y="16583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restocking succeeds, depletion events disappear from the data. The model's training signal changes — it would need continuous retraining to stay valid.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108192" y="2765919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08192" y="2765919"/>
            <a:ext cx="54864" cy="1417320"/>
          </a:xfrm>
          <a:prstGeom prst="rect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72784" y="289547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can be the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5B4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263640" y="3193047"/>
            <a:ext cx="2532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and outliers are often exactly the events operations need to plan for. ML models are weakest precisely on those rare but impactful days.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0041D2-D2B9-10E8-116D-23B692BEEC32}"/>
              </a:ext>
            </a:extLst>
          </p:cNvPr>
          <p:cNvSpPr txBox="1"/>
          <p:nvPr/>
        </p:nvSpPr>
        <p:spPr>
          <a:xfrm>
            <a:off x="420624" y="1239091"/>
            <a:ext cx="174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usage data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392424" y="291222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cs typeface="Calibri" pitchFamily="34" charset="-120"/>
              </a:rPr>
              <a:t>Su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mmer requires a </a:t>
            </a:r>
          </a:p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383280" y="3193047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July–September shows a fundamentally different regime. The current model should not be used for restocking decisions in summer.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137160"/>
            <a:ext cx="502920" cy="502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137160"/>
            <a:ext cx="502920" cy="5029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0" y="137160"/>
            <a:ext cx="502920" cy="5029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657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7" name="Shape 2"/>
          <p:cNvSpPr/>
          <p:nvPr/>
        </p:nvSpPr>
        <p:spPr>
          <a:xfrm>
            <a:off x="365912" y="801190"/>
            <a:ext cx="8664876" cy="884886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65760" y="801189"/>
            <a:ext cx="56510" cy="1132767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57207" y="744584"/>
            <a:ext cx="423825" cy="86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914540" y="775856"/>
            <a:ext cx="5866074" cy="81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UB/UPC Nord is structurally under-supplied relative to student demand — altitude drives allocation, and daily drain is predictable.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365912" y="1569285"/>
            <a:ext cx="8664876" cy="1132767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65760" y="1569285"/>
            <a:ext cx="56510" cy="1132767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7" y="1588862"/>
            <a:ext cx="423825" cy="86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4540" y="1577667"/>
            <a:ext cx="6194920" cy="81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24h-ahead Random Forest predicts hourly e-bike NAB with 12.8% lower error than the naive baseline — and catches 86% of depletion days.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65912" y="2337381"/>
            <a:ext cx="8664876" cy="1132767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5760" y="2337381"/>
            <a:ext cx="56510" cy="1132767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4949" y="2337381"/>
            <a:ext cx="423825" cy="86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540" y="2341161"/>
            <a:ext cx="6897050" cy="81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€314 in lost e-bike revenue across just 6 stations in 3 months. ~€942/year projected for the UB/UPC Nord school year — all recoverable with timely restocking.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65912" y="3105477"/>
            <a:ext cx="8664876" cy="1132767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3105477"/>
            <a:ext cx="56510" cy="1132767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4949" y="3095414"/>
            <a:ext cx="423825" cy="86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26798" y="3057721"/>
            <a:ext cx="6697840" cy="81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Depletion is temporally structured but not identical everyday. The model enables targeted restocking as it predicts early depletion. 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365912" y="3873574"/>
            <a:ext cx="8664876" cy="818110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64862" y="3873573"/>
            <a:ext cx="56510" cy="818111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7207" y="3805589"/>
            <a:ext cx="423825" cy="865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26798" y="3805589"/>
            <a:ext cx="6835000" cy="81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outcome is that this model becomes useless — successful restocking eliminates the signal. That means more revenue and happier students.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2451</Words>
  <Application>Microsoft Macintosh PowerPoint</Application>
  <PresentationFormat>On-screen Show (16:9)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E-Bike Depletion at UB/UPC Nord — Bicing Analysis</dc:title>
  <dc:subject>PptxGenJS Presentation</dc:subject>
  <dc:creator>PptxGenJS</dc:creator>
  <cp:lastModifiedBy>Riddhi Kedia</cp:lastModifiedBy>
  <cp:revision>52</cp:revision>
  <dcterms:created xsi:type="dcterms:W3CDTF">2026-03-25T14:52:00Z</dcterms:created>
  <dcterms:modified xsi:type="dcterms:W3CDTF">2026-03-26T21:36:42Z</dcterms:modified>
</cp:coreProperties>
</file>